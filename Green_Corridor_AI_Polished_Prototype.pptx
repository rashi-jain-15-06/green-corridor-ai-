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594360"/>
            <a:ext cx="1828800" cy="1828800"/>
          </a:xfrm>
          <a:prstGeom prst="ellipse">
            <a:avLst/>
          </a:prstGeom>
          <a:solidFill>
            <a:srgbClr val="DCE9DF"/>
          </a:solidFill>
          <a:ln>
            <a:solidFill>
              <a:srgbClr val="DC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1280160"/>
            <a:ext cx="1005840" cy="1005840"/>
          </a:xfrm>
          <a:prstGeom prst="ellipse">
            <a:avLst/>
          </a:prstGeom>
          <a:solidFill>
            <a:srgbClr val="DCE8F2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2331720"/>
            <a:ext cx="548640" cy="548640"/>
          </a:xfrm>
          <a:prstGeom prst="ellipse">
            <a:avLst/>
          </a:prstGeom>
          <a:solidFill>
            <a:srgbClr val="F7EBD1"/>
          </a:solidFill>
          <a:ln>
            <a:solidFill>
              <a:srgbClr val="F7E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8686800" y="3520440"/>
            <a:ext cx="960120" cy="548640"/>
          </a:xfrm>
          <a:prstGeom prst="line">
            <a:avLst/>
          </a:prstGeom>
          <a:ln w="254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46920" y="3520440"/>
            <a:ext cx="868680" cy="594360"/>
          </a:xfrm>
          <a:prstGeom prst="line">
            <a:avLst/>
          </a:prstGeom>
          <a:ln w="254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646920" y="3520440"/>
            <a:ext cx="137160" cy="1371600"/>
          </a:xfrm>
          <a:prstGeom prst="line">
            <a:avLst/>
          </a:prstGeom>
          <a:ln w="254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0" y="4892040"/>
            <a:ext cx="1143000" cy="274320"/>
          </a:xfrm>
          <a:prstGeom prst="line">
            <a:avLst/>
          </a:prstGeom>
          <a:ln w="254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686800" y="4892040"/>
            <a:ext cx="1097280" cy="411480"/>
          </a:xfrm>
          <a:prstGeom prst="line">
            <a:avLst/>
          </a:prstGeom>
          <a:ln w="254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86800" y="4069080"/>
            <a:ext cx="0" cy="1234440"/>
          </a:xfrm>
          <a:prstGeom prst="line">
            <a:avLst/>
          </a:prstGeom>
          <a:ln w="254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586216" y="3968496"/>
            <a:ext cx="201168" cy="201168"/>
          </a:xfrm>
          <a:prstGeom prst="ellipse">
            <a:avLst/>
          </a:prstGeom>
          <a:solidFill>
            <a:srgbClr val="F7EBD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46336" y="3419856"/>
            <a:ext cx="201168" cy="201168"/>
          </a:xfrm>
          <a:prstGeom prst="ellipse">
            <a:avLst/>
          </a:prstGeom>
          <a:solidFill>
            <a:srgbClr val="2F665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5016" y="4014215"/>
            <a:ext cx="201168" cy="201168"/>
          </a:xfrm>
          <a:prstGeom prst="ellipse">
            <a:avLst/>
          </a:prstGeom>
          <a:solidFill>
            <a:srgbClr val="2F665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83496" y="4791455"/>
            <a:ext cx="201168" cy="201168"/>
          </a:xfrm>
          <a:prstGeom prst="ellipse">
            <a:avLst/>
          </a:prstGeom>
          <a:solidFill>
            <a:srgbClr val="2F665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26496" y="5065776"/>
            <a:ext cx="201168" cy="201168"/>
          </a:xfrm>
          <a:prstGeom prst="ellipse">
            <a:avLst/>
          </a:prstGeom>
          <a:solidFill>
            <a:srgbClr val="2F665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86216" y="5202936"/>
            <a:ext cx="201168" cy="201168"/>
          </a:xfrm>
          <a:prstGeom prst="ellipse">
            <a:avLst/>
          </a:prstGeom>
          <a:solidFill>
            <a:srgbClr val="2F665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73152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6654"/>
                </a:solidFill>
                <a:latin typeface="Aptos"/>
              </a:rPr>
              <a:t>HACKATHON PROTOTYPE  •  AI &amp; DEVELOPER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0"/>
            <a:ext cx="713232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03A32"/>
                </a:solidFill>
                <a:latin typeface="Aptos"/>
              </a:rPr>
              <a:t>Green Corridor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468880"/>
            <a:ext cx="6217920" cy="9601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61736C"/>
                </a:solidFill>
                <a:latin typeface="Aptos"/>
              </a:rPr>
              <a:t>A route-aware traffic coordination concept for emergency response.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77639"/>
            <a:ext cx="5303520" cy="1024128"/>
          </a:xfrm>
          <a:prstGeom prst="roundRect">
            <a:avLst>
              <a:gd name="adj" fmla="val 12000"/>
            </a:avLst>
          </a:prstGeom>
          <a:solidFill>
            <a:srgbClr val="DCE9DF"/>
          </a:solidFill>
          <a:ln>
            <a:solidFill>
              <a:srgbClr val="DC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133087"/>
            <a:ext cx="48006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Predict the route. Simulate signal timing. Share a clear corridor plan.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6144768"/>
            <a:ext cx="64008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1736C"/>
                </a:solidFill>
                <a:latin typeface="Aptos"/>
              </a:rPr>
              <a:t>Simulation only — no live traffic signals are controlled.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6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6654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3A32"/>
                </a:solidFill>
                <a:latin typeface="Aptos"/>
              </a:rPr>
              <a:t>A clear route can still be slowed by red 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Emergency response depends on more than distance.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09344"/>
            <a:ext cx="10945368" cy="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6C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754880" cy="3429000"/>
          </a:xfrm>
          <a:prstGeom prst="roundRect">
            <a:avLst>
              <a:gd name="adj" fmla="val 12000"/>
            </a:avLst>
          </a:prstGeom>
          <a:solidFill>
            <a:srgbClr val="E8ECE8"/>
          </a:solidFill>
          <a:ln>
            <a:solidFill>
              <a:srgbClr val="E8E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834640"/>
            <a:ext cx="4206240" cy="749808"/>
          </a:xfrm>
          <a:prstGeom prst="roundRect">
            <a:avLst>
              <a:gd name="adj" fmla="val 12000"/>
            </a:avLst>
          </a:prstGeom>
          <a:solidFill>
            <a:srgbClr val="C8D0CB"/>
          </a:solidFill>
          <a:ln>
            <a:solidFill>
              <a:srgbClr val="C8D0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97280" y="3209544"/>
            <a:ext cx="39319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609344" y="2898648"/>
            <a:ext cx="438912" cy="621792"/>
          </a:xfrm>
          <a:prstGeom prst="roundRect">
            <a:avLst>
              <a:gd name="adj" fmla="val 12000"/>
            </a:avLst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3784" y="2898648"/>
            <a:ext cx="438912" cy="621792"/>
          </a:xfrm>
          <a:prstGeom prst="roundRect">
            <a:avLst>
              <a:gd name="adj" fmla="val 12000"/>
            </a:avLst>
          </a:prstGeom>
          <a:solidFill>
            <a:srgbClr val="8B6424"/>
          </a:solidFill>
          <a:ln>
            <a:solidFill>
              <a:srgbClr val="8B6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78224" y="2898648"/>
            <a:ext cx="438912" cy="621792"/>
          </a:xfrm>
          <a:prstGeom prst="roundRect">
            <a:avLst>
              <a:gd name="adj" fmla="val 12000"/>
            </a:avLst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2240280"/>
            <a:ext cx="96012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267712"/>
            <a:ext cx="8686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F6654"/>
                </a:solidFill>
                <a:latin typeface="Aptos"/>
              </a:rPr>
              <a:t>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31920"/>
            <a:ext cx="42062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03A32"/>
                </a:solidFill>
                <a:latin typeface="Aptos"/>
              </a:rPr>
              <a:t>Route chosen ≠ route cleared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90288"/>
            <a:ext cx="4023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Queueing and signal waits add uncertainty.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01168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6440" y="2011680"/>
            <a:ext cx="64008" cy="914400"/>
          </a:xfrm>
          <a:prstGeom prst="rect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07607" y="2130552"/>
            <a:ext cx="50749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Distance is only one factor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7" y="2496312"/>
            <a:ext cx="5056632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A short route may cross several busy intersections.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3127248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3127248"/>
            <a:ext cx="64008" cy="914400"/>
          </a:xfrm>
          <a:prstGeom prst="rect">
            <a:avLst/>
          </a:prstGeom>
          <a:solidFill>
            <a:srgbClr val="426A83"/>
          </a:solidFill>
          <a:ln>
            <a:solidFill>
              <a:srgbClr val="426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7607" y="3246120"/>
            <a:ext cx="50749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Coordination is difficult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3611880"/>
            <a:ext cx="5056632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Signals and responders may not share one timely plan.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4242816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6440" y="4242816"/>
            <a:ext cx="64008" cy="914400"/>
          </a:xfrm>
          <a:prstGeom prst="rect">
            <a:avLst/>
          </a:prstGeom>
          <a:solidFill>
            <a:srgbClr val="8B6424"/>
          </a:solidFill>
          <a:ln>
            <a:solidFill>
              <a:srgbClr val="8B6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07607" y="4361688"/>
            <a:ext cx="50749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Time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7607" y="4727448"/>
            <a:ext cx="5056632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Even small delays can complicate emergency operations.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5394960"/>
            <a:ext cx="51663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F6654"/>
                </a:solidFill>
                <a:latin typeface="Aptos"/>
              </a:rPr>
              <a:t>Opportunity: make the proposed corridor visible and testable.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6654"/>
                </a:solidFill>
                <a:latin typeface="Aptos"/>
              </a:rPr>
              <a:t>02 /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3A32"/>
                </a:solidFill>
                <a:latin typeface="Aptos"/>
              </a:rPr>
              <a:t>One simple workflow, from route to corridor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The prototype demonstrates coordination logic on a small simulated road network.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09344"/>
            <a:ext cx="10945368" cy="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6C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057400" cy="2148840"/>
          </a:xfrm>
          <a:prstGeom prst="roundRect">
            <a:avLst>
              <a:gd name="adj" fmla="val 12000"/>
            </a:avLst>
          </a:prstGeom>
          <a:solidFill>
            <a:srgbClr val="DCE8F2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532888"/>
            <a:ext cx="411480" cy="411480"/>
          </a:xfrm>
          <a:prstGeom prst="ellipse">
            <a:avLst/>
          </a:prstGeom>
          <a:solidFill>
            <a:srgbClr val="426A83"/>
          </a:solidFill>
          <a:ln>
            <a:solidFill>
              <a:srgbClr val="426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32888"/>
            <a:ext cx="411480" cy="3931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63240"/>
            <a:ext cx="1737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03A32"/>
                </a:solidFill>
                <a:latin typeface="Aptos"/>
              </a:rPr>
              <a:t>Choose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456432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Select origin, destination
and traffic scenario.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71215" y="3383280"/>
            <a:ext cx="630937" cy="0"/>
          </a:xfrm>
          <a:prstGeom prst="line">
            <a:avLst/>
          </a:prstGeom>
          <a:ln w="254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3383280" y="3255264"/>
            <a:ext cx="201168" cy="256032"/>
          </a:xfrm>
          <a:prstGeom prst="chevron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80" y="2331720"/>
            <a:ext cx="2057400" cy="2148840"/>
          </a:xfrm>
          <a:prstGeom prst="roundRect">
            <a:avLst>
              <a:gd name="adj" fmla="val 12000"/>
            </a:avLst>
          </a:prstGeom>
          <a:solidFill>
            <a:srgbClr val="DCE9DF"/>
          </a:solidFill>
          <a:ln>
            <a:solidFill>
              <a:srgbClr val="DC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76472" y="2532888"/>
            <a:ext cx="411480" cy="411480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2532888"/>
            <a:ext cx="411480" cy="3931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3063240"/>
            <a:ext cx="1737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03A32"/>
                </a:solidFill>
                <a:latin typeface="Aptos"/>
              </a:rPr>
              <a:t>Find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3456432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Compute a candidate path
through the road graph.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51576" y="3383280"/>
            <a:ext cx="630936" cy="0"/>
          </a:xfrm>
          <a:prstGeom prst="line">
            <a:avLst/>
          </a:prstGeom>
          <a:ln w="254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6263640" y="3255264"/>
            <a:ext cx="201168" cy="256032"/>
          </a:xfrm>
          <a:prstGeom prst="chevron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2331720"/>
            <a:ext cx="2057400" cy="2148840"/>
          </a:xfrm>
          <a:prstGeom prst="roundRect">
            <a:avLst>
              <a:gd name="adj" fmla="val 12000"/>
            </a:avLst>
          </a:prstGeom>
          <a:solidFill>
            <a:srgbClr val="F7EBD1"/>
          </a:solidFill>
          <a:ln>
            <a:solidFill>
              <a:srgbClr val="F7E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56831" y="2532888"/>
            <a:ext cx="411480" cy="411480"/>
          </a:xfrm>
          <a:prstGeom prst="ellipse">
            <a:avLst/>
          </a:prstGeom>
          <a:solidFill>
            <a:srgbClr val="8B6424"/>
          </a:solidFill>
          <a:ln>
            <a:solidFill>
              <a:srgbClr val="8B6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1" y="2532888"/>
            <a:ext cx="411480" cy="3931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1" y="3063240"/>
            <a:ext cx="1737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03A32"/>
                </a:solidFill>
                <a:latin typeface="Aptos"/>
              </a:rPr>
              <a:t>Simulate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1" y="3456432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Compare baseline waits
with coordinated timings.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383280"/>
            <a:ext cx="630936" cy="0"/>
          </a:xfrm>
          <a:prstGeom prst="line">
            <a:avLst/>
          </a:prstGeom>
          <a:ln w="254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9144000" y="3255264"/>
            <a:ext cx="201168" cy="256032"/>
          </a:xfrm>
          <a:prstGeom prst="chevron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72600" y="2331720"/>
            <a:ext cx="2057400" cy="2148840"/>
          </a:xfrm>
          <a:prstGeom prst="roundRect">
            <a:avLst>
              <a:gd name="adj" fmla="val 12000"/>
            </a:avLst>
          </a:prstGeom>
          <a:solidFill>
            <a:srgbClr val="F3E3DE"/>
          </a:solidFill>
          <a:ln>
            <a:solidFill>
              <a:srgbClr val="F3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37192" y="2532888"/>
            <a:ext cx="411480" cy="411480"/>
          </a:xfrm>
          <a:prstGeom prst="ellipse">
            <a:avLst/>
          </a:prstGeom>
          <a:solidFill>
            <a:srgbClr val="995B4D"/>
          </a:solidFill>
          <a:ln>
            <a:solidFill>
              <a:srgbClr val="99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192" y="2532888"/>
            <a:ext cx="411480" cy="3931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2" y="3063240"/>
            <a:ext cx="1737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03A32"/>
                </a:solidFill>
                <a:latin typeface="Aptos"/>
              </a:rPr>
              <a:t>Communicate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7192" y="3456432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Show corridor plan,
estimate and event log.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074920"/>
            <a:ext cx="10332720" cy="658368"/>
          </a:xfrm>
          <a:prstGeom prst="roundRect">
            <a:avLst>
              <a:gd name="adj" fmla="val 12000"/>
            </a:avLst>
          </a:prstGeom>
          <a:solidFill>
            <a:srgbClr val="EEF3EE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184648"/>
            <a:ext cx="99669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Support human coordination; never bypass authorized traffic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6654"/>
                </a:solidFill>
                <a:latin typeface="Aptos"/>
              </a:rPr>
              <a:t>03 / ROUTE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3A32"/>
                </a:solidFill>
                <a:latin typeface="Aptos"/>
              </a:rPr>
              <a:t>A small road graph makes the logic easy to inspect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Nodes are junctions; links are road segments. The demo uses Dijkstra's shortest-path algorithm.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09344"/>
            <a:ext cx="10945368" cy="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6C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653796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417320" y="2743200"/>
            <a:ext cx="1325880" cy="91440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20" y="3657600"/>
            <a:ext cx="1325880" cy="109728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2743200"/>
            <a:ext cx="1463040" cy="13716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2743200"/>
            <a:ext cx="0" cy="201168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06240" y="2514600"/>
            <a:ext cx="1463040" cy="36576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06240" y="2880360"/>
            <a:ext cx="91440" cy="192024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69280" y="2514600"/>
            <a:ext cx="365760" cy="192024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0" y="4754880"/>
            <a:ext cx="1554480" cy="4572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297680" y="4434840"/>
            <a:ext cx="1737360" cy="36576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206240" y="2880360"/>
            <a:ext cx="1828800" cy="155448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17320" y="2743200"/>
            <a:ext cx="1325880" cy="914400"/>
          </a:xfrm>
          <a:prstGeom prst="line">
            <a:avLst/>
          </a:prstGeom>
          <a:ln w="508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0" y="2743200"/>
            <a:ext cx="1463040" cy="137160"/>
          </a:xfrm>
          <a:prstGeom prst="line">
            <a:avLst/>
          </a:prstGeom>
          <a:ln w="508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06240" y="2880360"/>
            <a:ext cx="1828800" cy="1554480"/>
          </a:xfrm>
          <a:prstGeom prst="line">
            <a:avLst/>
          </a:prstGeom>
          <a:ln w="50800">
            <a:solidFill>
              <a:srgbClr val="2F66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243584" y="3483864"/>
            <a:ext cx="347472" cy="347472"/>
          </a:xfrm>
          <a:prstGeom prst="ellipse">
            <a:avLst/>
          </a:prstGeom>
          <a:solidFill>
            <a:srgbClr val="F7EBD1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1016" y="3520440"/>
            <a:ext cx="2926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03A32"/>
                </a:solidFill>
                <a:latin typeface="Aptos"/>
              </a:rPr>
              <a:t>A</a:t>
            </a:r>
          </a:p>
        </p:txBody>
      </p:sp>
      <p:sp>
        <p:nvSpPr>
          <p:cNvPr id="23" name="Oval 22"/>
          <p:cNvSpPr/>
          <p:nvPr/>
        </p:nvSpPr>
        <p:spPr>
          <a:xfrm>
            <a:off x="2569464" y="2569464"/>
            <a:ext cx="347472" cy="347472"/>
          </a:xfrm>
          <a:prstGeom prst="ellipse">
            <a:avLst/>
          </a:prstGeom>
          <a:solidFill>
            <a:srgbClr val="DCE9DF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96896" y="2606040"/>
            <a:ext cx="2926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03A32"/>
                </a:solidFill>
                <a:latin typeface="Aptos"/>
              </a:rPr>
              <a:t>B</a:t>
            </a:r>
          </a:p>
        </p:txBody>
      </p:sp>
      <p:sp>
        <p:nvSpPr>
          <p:cNvPr id="25" name="Oval 24"/>
          <p:cNvSpPr/>
          <p:nvPr/>
        </p:nvSpPr>
        <p:spPr>
          <a:xfrm>
            <a:off x="4032503" y="2706624"/>
            <a:ext cx="347472" cy="347472"/>
          </a:xfrm>
          <a:prstGeom prst="ellipse">
            <a:avLst/>
          </a:prstGeom>
          <a:solidFill>
            <a:srgbClr val="DCE9DF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9935" y="2743200"/>
            <a:ext cx="2926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03A32"/>
                </a:solidFill>
                <a:latin typeface="Aptos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5495544" y="2340864"/>
            <a:ext cx="347472" cy="347472"/>
          </a:xfrm>
          <a:prstGeom prst="ellipse">
            <a:avLst/>
          </a:prstGeom>
          <a:solidFill>
            <a:srgbClr val="DCE9DF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22976" y="2377440"/>
            <a:ext cx="2926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03A32"/>
                </a:solidFill>
                <a:latin typeface="Aptos"/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2569464" y="4581144"/>
            <a:ext cx="347472" cy="347472"/>
          </a:xfrm>
          <a:prstGeom prst="ellipse">
            <a:avLst/>
          </a:prstGeom>
          <a:solidFill>
            <a:srgbClr val="DCE9DF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96896" y="4617720"/>
            <a:ext cx="2926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03A32"/>
                </a:solidFill>
                <a:latin typeface="Aptos"/>
              </a:rPr>
              <a:t>E</a:t>
            </a:r>
          </a:p>
        </p:txBody>
      </p:sp>
      <p:sp>
        <p:nvSpPr>
          <p:cNvPr id="31" name="Oval 30"/>
          <p:cNvSpPr/>
          <p:nvPr/>
        </p:nvSpPr>
        <p:spPr>
          <a:xfrm>
            <a:off x="4123944" y="4626864"/>
            <a:ext cx="347472" cy="347472"/>
          </a:xfrm>
          <a:prstGeom prst="ellipse">
            <a:avLst/>
          </a:prstGeom>
          <a:solidFill>
            <a:srgbClr val="DCE9DF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51376" y="4663440"/>
            <a:ext cx="2926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03A32"/>
                </a:solidFill>
                <a:latin typeface="Aptos"/>
              </a:rPr>
              <a:t>F</a:t>
            </a:r>
          </a:p>
        </p:txBody>
      </p:sp>
      <p:sp>
        <p:nvSpPr>
          <p:cNvPr id="33" name="Oval 32"/>
          <p:cNvSpPr/>
          <p:nvPr/>
        </p:nvSpPr>
        <p:spPr>
          <a:xfrm>
            <a:off x="5861303" y="4261103"/>
            <a:ext cx="347472" cy="347472"/>
          </a:xfrm>
          <a:prstGeom prst="ellipse">
            <a:avLst/>
          </a:prstGeom>
          <a:solidFill>
            <a:srgbClr val="F3E3DE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88736" y="4297679"/>
            <a:ext cx="2926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03A32"/>
                </a:solidFill>
                <a:latin typeface="Aptos"/>
              </a:rPr>
              <a:t>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596128"/>
            <a:ext cx="5943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1736C"/>
                </a:solidFill>
                <a:latin typeface="Aptos"/>
              </a:rPr>
              <a:t>Illustrative path highlighted in green (example only)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2011680"/>
            <a:ext cx="36576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35240" y="2011680"/>
            <a:ext cx="64008" cy="1024128"/>
          </a:xfrm>
          <a:prstGeom prst="rect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36408" y="2130552"/>
            <a:ext cx="3291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Inputs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6408" y="2496312"/>
            <a:ext cx="327355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Origin + destination + traffic scenario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3246120"/>
            <a:ext cx="36576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35240" y="3246120"/>
            <a:ext cx="64008" cy="1024128"/>
          </a:xfrm>
          <a:prstGeom prst="rect">
            <a:avLst/>
          </a:prstGeom>
          <a:solidFill>
            <a:srgbClr val="426A83"/>
          </a:solidFill>
          <a:ln>
            <a:solidFill>
              <a:srgbClr val="426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36408" y="3364991"/>
            <a:ext cx="3291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Route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6408" y="3730752"/>
            <a:ext cx="327355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Graph search returns a candidate path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35240" y="4480560"/>
            <a:ext cx="36576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35240" y="4480560"/>
            <a:ext cx="64008" cy="1024128"/>
          </a:xfrm>
          <a:prstGeom prst="rect">
            <a:avLst/>
          </a:prstGeom>
          <a:solidFill>
            <a:srgbClr val="8B6424"/>
          </a:solidFill>
          <a:ln>
            <a:solidFill>
              <a:srgbClr val="8B6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36408" y="4599432"/>
            <a:ext cx="3291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Visible result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36408" y="4965192"/>
            <a:ext cx="327355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Path and simulated timing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6654"/>
                </a:solidFill>
                <a:latin typeface="Aptos"/>
              </a:rPr>
              <a:t>04 /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3A32"/>
                </a:solidFill>
                <a:latin typeface="Aptos"/>
              </a:rPr>
              <a:t>Compare the same route under two timing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Illustrative values explain the comparison — they are not measured real-world results.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09344"/>
            <a:ext cx="10945368" cy="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6C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5074920" cy="3337560"/>
          </a:xfrm>
          <a:prstGeom prst="roundRect">
            <a:avLst>
              <a:gd name="adj" fmla="val 12000"/>
            </a:avLst>
          </a:prstGeom>
          <a:solidFill>
            <a:srgbClr val="F0F2EF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074920" cy="3337560"/>
          </a:xfrm>
          <a:prstGeom prst="roundRect">
            <a:avLst>
              <a:gd name="adj" fmla="val 12000"/>
            </a:avLst>
          </a:prstGeom>
          <a:solidFill>
            <a:srgbClr val="E7F0E9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452628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03A32"/>
                </a:solidFill>
                <a:latin typeface="Aptos"/>
              </a:rPr>
              <a:t>Baseline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452628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03A32"/>
                </a:solidFill>
                <a:latin typeface="Aptos"/>
              </a:rPr>
              <a:t>Coordinated simulation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971800"/>
            <a:ext cx="749808" cy="566928"/>
          </a:xfrm>
          <a:prstGeom prst="roundRect">
            <a:avLst>
              <a:gd name="adj" fmla="val 12000"/>
            </a:avLst>
          </a:prstGeom>
          <a:solidFill>
            <a:srgbClr val="8B6424"/>
          </a:solidFill>
          <a:ln>
            <a:solidFill>
              <a:srgbClr val="8B6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75304"/>
            <a:ext cx="7498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36C"/>
                </a:solidFill>
                <a:latin typeface="Aptos"/>
              </a:rPr>
              <a:t>J1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971800"/>
            <a:ext cx="749808" cy="566928"/>
          </a:xfrm>
          <a:prstGeom prst="roundRect">
            <a:avLst>
              <a:gd name="adj" fmla="val 12000"/>
            </a:avLst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575304"/>
            <a:ext cx="7498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36C"/>
                </a:solidFill>
                <a:latin typeface="Aptos"/>
              </a:rPr>
              <a:t>J1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21408" y="2971800"/>
            <a:ext cx="749808" cy="566928"/>
          </a:xfrm>
          <a:prstGeom prst="roundRect">
            <a:avLst>
              <a:gd name="adj" fmla="val 12000"/>
            </a:avLst>
          </a:prstGeom>
          <a:solidFill>
            <a:srgbClr val="8B6424"/>
          </a:solidFill>
          <a:ln>
            <a:solidFill>
              <a:srgbClr val="8B6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1408" y="3575304"/>
            <a:ext cx="7498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36C"/>
                </a:solidFill>
                <a:latin typeface="Aptos"/>
              </a:rPr>
              <a:t>J2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53528" y="2971800"/>
            <a:ext cx="749808" cy="566928"/>
          </a:xfrm>
          <a:prstGeom prst="roundRect">
            <a:avLst>
              <a:gd name="adj" fmla="val 12000"/>
            </a:avLst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3575304"/>
            <a:ext cx="7498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36C"/>
                </a:solidFill>
                <a:latin typeface="Aptos"/>
              </a:rPr>
              <a:t>J2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45536" y="2971800"/>
            <a:ext cx="749808" cy="566928"/>
          </a:xfrm>
          <a:prstGeom prst="roundRect">
            <a:avLst>
              <a:gd name="adj" fmla="val 12000"/>
            </a:avLst>
          </a:prstGeom>
          <a:solidFill>
            <a:srgbClr val="8B6424"/>
          </a:solidFill>
          <a:ln>
            <a:solidFill>
              <a:srgbClr val="8B6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45536" y="3575304"/>
            <a:ext cx="7498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36C"/>
                </a:solidFill>
                <a:latin typeface="Aptos"/>
              </a:rPr>
              <a:t>J3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77656" y="2971800"/>
            <a:ext cx="749808" cy="566928"/>
          </a:xfrm>
          <a:prstGeom prst="roundRect">
            <a:avLst>
              <a:gd name="adj" fmla="val 12000"/>
            </a:avLst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77656" y="3575304"/>
            <a:ext cx="7498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36C"/>
                </a:solidFill>
                <a:latin typeface="Aptos"/>
              </a:rPr>
              <a:t>J3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9664" y="2971800"/>
            <a:ext cx="749808" cy="566928"/>
          </a:xfrm>
          <a:prstGeom prst="roundRect">
            <a:avLst>
              <a:gd name="adj" fmla="val 12000"/>
            </a:avLst>
          </a:prstGeom>
          <a:solidFill>
            <a:srgbClr val="D7E1DA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9664" y="3575304"/>
            <a:ext cx="7498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36C"/>
                </a:solidFill>
                <a:latin typeface="Aptos"/>
              </a:rPr>
              <a:t>J4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01784" y="2971800"/>
            <a:ext cx="749808" cy="566928"/>
          </a:xfrm>
          <a:prstGeom prst="roundRect">
            <a:avLst>
              <a:gd name="adj" fmla="val 12000"/>
            </a:avLst>
          </a:prstGeom>
          <a:solidFill>
            <a:srgbClr val="D7E1DA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01784" y="3575304"/>
            <a:ext cx="749808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36C"/>
                </a:solidFill>
                <a:latin typeface="Aptos"/>
              </a:rPr>
              <a:t>J4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224528"/>
            <a:ext cx="44805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B6424"/>
                </a:solidFill>
                <a:latin typeface="Aptos"/>
              </a:rPr>
              <a:t>Assumed 2.5–3.5 min per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224528"/>
            <a:ext cx="44805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F6654"/>
                </a:solidFill>
                <a:latin typeface="Aptos"/>
              </a:rPr>
              <a:t>Assumed 0.7 min per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681728"/>
            <a:ext cx="448056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Independent waits in this toy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681728"/>
            <a:ext cx="448056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Reduced waits in the toy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0240" y="5532120"/>
            <a:ext cx="8366760" cy="502920"/>
          </a:xfrm>
          <a:prstGeom prst="roundRect">
            <a:avLst>
              <a:gd name="adj" fmla="val 12000"/>
            </a:avLst>
          </a:prstGeom>
          <a:solidFill>
            <a:srgbClr val="F7EBD1"/>
          </a:solidFill>
          <a:ln>
            <a:solidFill>
              <a:srgbClr val="F7E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5586984"/>
            <a:ext cx="809244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03A32"/>
                </a:solidFill>
                <a:latin typeface="Aptos"/>
              </a:rPr>
              <a:t>Scenario estimate only — not a guaranteed time saving.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6654"/>
                </a:solidFill>
                <a:latin typeface="Aptos"/>
              </a:rPr>
              <a:t>05 /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3A32"/>
                </a:solidFill>
                <a:latin typeface="Aptos"/>
              </a:rPr>
              <a:t>What the demo can show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A focused, explainable prototype is more useful than claiming integrations that do not exist.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09344"/>
            <a:ext cx="10945368" cy="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6C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DCE9DF"/>
          </a:solidFill>
          <a:ln>
            <a:solidFill>
              <a:srgbClr val="DC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167128"/>
            <a:ext cx="164592" cy="164592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075688"/>
            <a:ext cx="24231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Route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505456"/>
            <a:ext cx="274320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Choose start and destination on a fixed A–G graph.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6596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DCE8F2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2167128"/>
            <a:ext cx="164592" cy="164592"/>
          </a:xfrm>
          <a:prstGeom prst="ellipse">
            <a:avLst/>
          </a:prstGeom>
          <a:solidFill>
            <a:srgbClr val="426A83"/>
          </a:solidFill>
          <a:ln>
            <a:solidFill>
              <a:srgbClr val="426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075688"/>
            <a:ext cx="24231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Traffic 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505456"/>
            <a:ext cx="274320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Switch between normal and busy assumptions.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96596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F7EBD1"/>
          </a:solidFill>
          <a:ln>
            <a:solidFill>
              <a:srgbClr val="F7E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8200" y="2167128"/>
            <a:ext cx="164592" cy="164592"/>
          </a:xfrm>
          <a:prstGeom prst="ellipse">
            <a:avLst/>
          </a:prstGeom>
          <a:solidFill>
            <a:srgbClr val="8B6424"/>
          </a:solidFill>
          <a:ln>
            <a:solidFill>
              <a:srgbClr val="8B6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2075688"/>
            <a:ext cx="24231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Timing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505456"/>
            <a:ext cx="274320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Compare baseline and coordinated simulated waits.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822191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F3E3DE"/>
          </a:solidFill>
          <a:ln>
            <a:solidFill>
              <a:srgbClr val="F3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023359"/>
            <a:ext cx="164592" cy="164592"/>
          </a:xfrm>
          <a:prstGeom prst="ellipse">
            <a:avLst/>
          </a:prstGeom>
          <a:solidFill>
            <a:srgbClr val="995B4D"/>
          </a:solidFill>
          <a:ln>
            <a:solidFill>
              <a:srgbClr val="99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931920"/>
            <a:ext cx="24231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Responder message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361688"/>
            <a:ext cx="274320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Display a corridor summary and suggested route.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822191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DCE9DF"/>
          </a:solidFill>
          <a:ln>
            <a:solidFill>
              <a:srgbClr val="DC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09160" y="4023359"/>
            <a:ext cx="164592" cy="164592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3931920"/>
            <a:ext cx="24231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Event log + reset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4361688"/>
            <a:ext cx="274320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Review the sequence and restart the scenario.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822191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DCE8F2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58200" y="4023359"/>
            <a:ext cx="164592" cy="164592"/>
          </a:xfrm>
          <a:prstGeom prst="ellipse">
            <a:avLst/>
          </a:prstGeom>
          <a:solidFill>
            <a:srgbClr val="426A83"/>
          </a:solidFill>
          <a:ln>
            <a:solidFill>
              <a:srgbClr val="426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3931920"/>
            <a:ext cx="242316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Input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4361688"/>
            <a:ext cx="274320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1736C"/>
                </a:solidFill>
                <a:latin typeface="Aptos"/>
              </a:rPr>
              <a:t>Prevent invalid or identical endpoints.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6654"/>
                </a:solidFill>
                <a:latin typeface="Aptos"/>
              </a:rPr>
              <a:t>06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3A32"/>
                </a:solidFill>
                <a:latin typeface="Aptos"/>
              </a:rPr>
              <a:t>How we would validate the idea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The next step is evidence: test assumptions before making operational claims.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09344"/>
            <a:ext cx="10945368" cy="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6C"/>
                </a:solidFill>
                <a:latin typeface="Aptos"/>
              </a:rP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011680"/>
            <a:ext cx="393192" cy="393192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9319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38528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Functional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49424"/>
            <a:ext cx="51206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36C"/>
                </a:solidFill>
                <a:latin typeface="Aptos"/>
              </a:rPr>
              <a:t>Route exists, endpoints differ, reset works, outputs are consistent.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60704" y="2414016"/>
            <a:ext cx="0" cy="438912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68680" y="2962656"/>
            <a:ext cx="393192" cy="393192"/>
          </a:xfrm>
          <a:prstGeom prst="ellipse">
            <a:avLst/>
          </a:prstGeom>
          <a:solidFill>
            <a:srgbClr val="426A83"/>
          </a:solidFill>
          <a:ln>
            <a:solidFill>
              <a:srgbClr val="426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62656"/>
            <a:ext cx="39319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89504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Scenario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00400"/>
            <a:ext cx="51206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36C"/>
                </a:solidFill>
                <a:latin typeface="Aptos"/>
              </a:rPr>
              <a:t>Compare normal/busy cases and multiple origin–destination pairs.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0704" y="3364992"/>
            <a:ext cx="0" cy="438912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68680" y="3913632"/>
            <a:ext cx="393192" cy="393192"/>
          </a:xfrm>
          <a:prstGeom prst="ellipse">
            <a:avLst/>
          </a:prstGeom>
          <a:solidFill>
            <a:srgbClr val="8B6424"/>
          </a:solidFill>
          <a:ln>
            <a:solidFill>
              <a:srgbClr val="8B6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13632"/>
            <a:ext cx="39319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40480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Expert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51376"/>
            <a:ext cx="51206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36C"/>
                </a:solidFill>
                <a:latin typeface="Aptos"/>
              </a:rPr>
              <a:t>Ask traffic engineers and emergency services to review constraints.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0704" y="4315968"/>
            <a:ext cx="0" cy="438912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68680" y="4864608"/>
            <a:ext cx="393192" cy="393192"/>
          </a:xfrm>
          <a:prstGeom prst="ellipse">
            <a:avLst/>
          </a:prstGeom>
          <a:solidFill>
            <a:srgbClr val="995B4D"/>
          </a:solidFill>
          <a:ln>
            <a:solidFill>
              <a:srgbClr val="995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64608"/>
            <a:ext cx="393192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91456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03A32"/>
                </a:solidFill>
                <a:latin typeface="Aptos"/>
              </a:rPr>
              <a:t>Field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102352"/>
            <a:ext cx="51206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36C"/>
                </a:solidFill>
                <a:latin typeface="Aptos"/>
              </a:rPr>
              <a:t>Only with authority approval, safety review and controlled trials.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5160" y="2011680"/>
            <a:ext cx="425196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6912" y="2304288"/>
            <a:ext cx="36576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03A32"/>
                </a:solidFill>
                <a:latin typeface="Aptos"/>
              </a:rPr>
              <a:t>Measures to track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0" y="2926080"/>
            <a:ext cx="155448" cy="155448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852928"/>
            <a:ext cx="32461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Estimated delay by scenario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0" y="3456432"/>
            <a:ext cx="155448" cy="155448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3383280"/>
            <a:ext cx="32461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Route validity and stability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0" y="3986784"/>
            <a:ext cx="155448" cy="155448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3913632"/>
            <a:ext cx="32461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Alert clarity for responders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0" y="4517136"/>
            <a:ext cx="155448" cy="155448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4443983"/>
            <a:ext cx="32461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Safety and fail-safe behavior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029200"/>
            <a:ext cx="35661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B6424"/>
                </a:solidFill>
                <a:latin typeface="Aptos"/>
              </a:rPr>
              <a:t>No field results claimed in this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058400" cy="25603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6654"/>
                </a:solidFill>
                <a:latin typeface="Aptos"/>
              </a:rPr>
              <a:t>07 / SCOPE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03A32"/>
                </a:solidFill>
                <a:latin typeface="Aptos"/>
              </a:rPr>
              <a:t>Prototype now. Responsible integration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36C"/>
                </a:solidFill>
                <a:latin typeface="Aptos"/>
              </a:rPr>
              <a:t>Keep the boundary between simulation and real-world control explicit.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609344"/>
            <a:ext cx="10945368" cy="0"/>
          </a:xfrm>
          <a:prstGeom prst="line">
            <a:avLst/>
          </a:prstGeom>
          <a:ln w="25400">
            <a:solidFill>
              <a:srgbClr val="D7E1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1852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1736C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5074920" cy="3474720"/>
          </a:xfrm>
          <a:prstGeom prst="roundRect">
            <a:avLst>
              <a:gd name="adj" fmla="val 12000"/>
            </a:avLst>
          </a:prstGeom>
          <a:solidFill>
            <a:srgbClr val="DCE9DF"/>
          </a:solidFill>
          <a:ln>
            <a:solidFill>
              <a:srgbClr val="DC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67712"/>
            <a:ext cx="44805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03A32"/>
                </a:solidFill>
                <a:latin typeface="Aptos"/>
              </a:rPr>
              <a:t>In scope today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907792"/>
            <a:ext cx="155448" cy="155448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4023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A32"/>
                </a:solidFill>
                <a:latin typeface="Aptos"/>
              </a:rPr>
              <a:t>Fixed road graph and shortest-path routing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438144"/>
            <a:ext cx="155448" cy="155448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364992"/>
            <a:ext cx="4023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A32"/>
                </a:solidFill>
                <a:latin typeface="Aptos"/>
              </a:rPr>
              <a:t>Scenario-based simulated signal waits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968496"/>
            <a:ext cx="155448" cy="155448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895344"/>
            <a:ext cx="4023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A32"/>
                </a:solidFill>
                <a:latin typeface="Aptos"/>
              </a:rPr>
              <a:t>Illustrative responder alert and event log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4498848"/>
            <a:ext cx="155448" cy="155448"/>
          </a:xfrm>
          <a:prstGeom prst="ellipse">
            <a:avLst/>
          </a:prstGeom>
          <a:solidFill>
            <a:srgbClr val="2F6654"/>
          </a:solidFill>
          <a:ln>
            <a:solidFill>
              <a:srgbClr val="2F6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425696"/>
            <a:ext cx="4023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A32"/>
                </a:solidFill>
                <a:latin typeface="Aptos"/>
              </a:rPr>
              <a:t>Transparent assumptions for a hackathon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5074920" cy="3474720"/>
          </a:xfrm>
          <a:prstGeom prst="roundRect">
            <a:avLst>
              <a:gd name="adj" fmla="val 12000"/>
            </a:avLst>
          </a:prstGeom>
          <a:solidFill>
            <a:srgbClr val="DCE8F2"/>
          </a:solidFill>
          <a:ln>
            <a:solidFill>
              <a:srgbClr val="DC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267712"/>
            <a:ext cx="44805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03A32"/>
                </a:solidFill>
                <a:latin typeface="Aptos"/>
              </a:rPr>
              <a:t>Not implemented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2907792"/>
            <a:ext cx="155448" cy="155448"/>
          </a:xfrm>
          <a:prstGeom prst="ellipse">
            <a:avLst/>
          </a:prstGeom>
          <a:solidFill>
            <a:srgbClr val="426A83"/>
          </a:solidFill>
          <a:ln>
            <a:solidFill>
              <a:srgbClr val="426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834640"/>
            <a:ext cx="4023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A32"/>
                </a:solidFill>
                <a:latin typeface="Aptos"/>
              </a:rPr>
              <a:t>Live map, GPS or traffic feeds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3438144"/>
            <a:ext cx="155448" cy="155448"/>
          </a:xfrm>
          <a:prstGeom prst="ellipse">
            <a:avLst/>
          </a:prstGeom>
          <a:solidFill>
            <a:srgbClr val="426A83"/>
          </a:solidFill>
          <a:ln>
            <a:solidFill>
              <a:srgbClr val="426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364992"/>
            <a:ext cx="4023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A32"/>
                </a:solidFill>
                <a:latin typeface="Aptos"/>
              </a:rPr>
              <a:t>Real AI/ML prediction model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3968496"/>
            <a:ext cx="155448" cy="155448"/>
          </a:xfrm>
          <a:prstGeom prst="ellipse">
            <a:avLst/>
          </a:prstGeom>
          <a:solidFill>
            <a:srgbClr val="426A83"/>
          </a:solidFill>
          <a:ln>
            <a:solidFill>
              <a:srgbClr val="426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895344"/>
            <a:ext cx="4023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A32"/>
                </a:solidFill>
                <a:latin typeface="Aptos"/>
              </a:rPr>
              <a:t>Connection to traffic-light controllers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4498848"/>
            <a:ext cx="155448" cy="155448"/>
          </a:xfrm>
          <a:prstGeom prst="ellipse">
            <a:avLst/>
          </a:prstGeom>
          <a:solidFill>
            <a:srgbClr val="426A83"/>
          </a:solidFill>
          <a:ln>
            <a:solidFill>
              <a:srgbClr val="426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4425696"/>
            <a:ext cx="40233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A32"/>
                </a:solidFill>
                <a:latin typeface="Aptos"/>
              </a:rPr>
              <a:t>Production safety certification or field tests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5715000"/>
            <a:ext cx="9509760" cy="475488"/>
          </a:xfrm>
          <a:prstGeom prst="roundRect">
            <a:avLst>
              <a:gd name="adj" fmla="val 12000"/>
            </a:avLst>
          </a:prstGeom>
          <a:solidFill>
            <a:srgbClr val="F7EBD1"/>
          </a:solidFill>
          <a:ln>
            <a:solidFill>
              <a:srgbClr val="F7E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8760" y="5760720"/>
            <a:ext cx="914400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03A32"/>
                </a:solidFill>
                <a:latin typeface="Aptos"/>
              </a:rPr>
              <a:t>Next: validate assumptions with domain experts, then explore authorized data and integrations.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Corridor AI — Polished Prototype Presentation</dc:title>
  <dc:subject>Hackathon prototype overview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